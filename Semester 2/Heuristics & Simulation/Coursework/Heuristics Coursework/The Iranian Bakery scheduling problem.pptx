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7"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114" d="100"/>
          <a:sy n="114" d="100"/>
        </p:scale>
        <p:origin x="474"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73C9AE14-94B2-400D-A848-28197BEE25A7}" type="datetimeFigureOut">
              <a:rPr lang="en-GB" smtClean="0"/>
              <a:t>14/02/2024</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B133A864-6D40-4FEB-8933-40892CDA9280}" type="slidenum">
              <a:rPr lang="en-GB" smtClean="0"/>
              <a:t>‹#›</a:t>
            </a:fld>
            <a:endParaRPr lang="en-GB" dirty="0"/>
          </a:p>
        </p:txBody>
      </p:sp>
    </p:spTree>
    <p:extLst>
      <p:ext uri="{BB962C8B-B14F-4D97-AF65-F5344CB8AC3E}">
        <p14:creationId xmlns:p14="http://schemas.microsoft.com/office/powerpoint/2010/main" val="6157154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73C9AE14-94B2-400D-A848-28197BEE25A7}" type="datetimeFigureOut">
              <a:rPr lang="en-GB" smtClean="0"/>
              <a:t>14/02/2024</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B133A864-6D40-4FEB-8933-40892CDA9280}" type="slidenum">
              <a:rPr lang="en-GB" smtClean="0"/>
              <a:t>‹#›</a:t>
            </a:fld>
            <a:endParaRPr lang="en-GB" dirty="0"/>
          </a:p>
        </p:txBody>
      </p:sp>
    </p:spTree>
    <p:extLst>
      <p:ext uri="{BB962C8B-B14F-4D97-AF65-F5344CB8AC3E}">
        <p14:creationId xmlns:p14="http://schemas.microsoft.com/office/powerpoint/2010/main" val="14404811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73C9AE14-94B2-400D-A848-28197BEE25A7}" type="datetimeFigureOut">
              <a:rPr lang="en-GB" smtClean="0"/>
              <a:t>14/02/2024</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B133A864-6D40-4FEB-8933-40892CDA9280}" type="slidenum">
              <a:rPr lang="en-GB" smtClean="0"/>
              <a:t>‹#›</a:t>
            </a:fld>
            <a:endParaRPr lang="en-GB" dirty="0"/>
          </a:p>
        </p:txBody>
      </p:sp>
    </p:spTree>
    <p:extLst>
      <p:ext uri="{BB962C8B-B14F-4D97-AF65-F5344CB8AC3E}">
        <p14:creationId xmlns:p14="http://schemas.microsoft.com/office/powerpoint/2010/main" val="34019408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73C9AE14-94B2-400D-A848-28197BEE25A7}" type="datetimeFigureOut">
              <a:rPr lang="en-GB" smtClean="0"/>
              <a:t>14/02/2024</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B133A864-6D40-4FEB-8933-40892CDA9280}" type="slidenum">
              <a:rPr lang="en-GB" smtClean="0"/>
              <a:t>‹#›</a:t>
            </a:fld>
            <a:endParaRPr lang="en-GB" dirty="0"/>
          </a:p>
        </p:txBody>
      </p:sp>
    </p:spTree>
    <p:extLst>
      <p:ext uri="{BB962C8B-B14F-4D97-AF65-F5344CB8AC3E}">
        <p14:creationId xmlns:p14="http://schemas.microsoft.com/office/powerpoint/2010/main" val="15411264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73C9AE14-94B2-400D-A848-28197BEE25A7}" type="datetimeFigureOut">
              <a:rPr lang="en-GB" smtClean="0"/>
              <a:t>14/02/2024</a:t>
            </a:fld>
            <a:endParaRPr lang="en-GB" dirty="0"/>
          </a:p>
        </p:txBody>
      </p:sp>
      <p:sp>
        <p:nvSpPr>
          <p:cNvPr id="8" name="Footer Placeholder 7"/>
          <p:cNvSpPr>
            <a:spLocks noGrp="1"/>
          </p:cNvSpPr>
          <p:nvPr>
            <p:ph type="ftr" sz="quarter" idx="11"/>
          </p:nvPr>
        </p:nvSpPr>
        <p:spPr/>
        <p:txBody>
          <a:bodyPr/>
          <a:lstStyle/>
          <a:p>
            <a:endParaRPr lang="en-GB" dirty="0"/>
          </a:p>
        </p:txBody>
      </p:sp>
      <p:sp>
        <p:nvSpPr>
          <p:cNvPr id="9" name="Slide Number Placeholder 8"/>
          <p:cNvSpPr>
            <a:spLocks noGrp="1"/>
          </p:cNvSpPr>
          <p:nvPr>
            <p:ph type="sldNum" sz="quarter" idx="12"/>
          </p:nvPr>
        </p:nvSpPr>
        <p:spPr/>
        <p:txBody>
          <a:bodyPr/>
          <a:lstStyle/>
          <a:p>
            <a:fld id="{B133A864-6D40-4FEB-8933-40892CDA9280}" type="slidenum">
              <a:rPr lang="en-GB" smtClean="0"/>
              <a:t>‹#›</a:t>
            </a:fld>
            <a:endParaRPr lang="en-GB" dirty="0"/>
          </a:p>
        </p:txBody>
      </p:sp>
    </p:spTree>
    <p:extLst>
      <p:ext uri="{BB962C8B-B14F-4D97-AF65-F5344CB8AC3E}">
        <p14:creationId xmlns:p14="http://schemas.microsoft.com/office/powerpoint/2010/main" val="35518591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73C9AE14-94B2-400D-A848-28197BEE25A7}" type="datetimeFigureOut">
              <a:rPr lang="en-GB" smtClean="0"/>
              <a:t>14/02/2024</a:t>
            </a:fld>
            <a:endParaRPr lang="en-GB" dirty="0"/>
          </a:p>
        </p:txBody>
      </p:sp>
      <p:sp>
        <p:nvSpPr>
          <p:cNvPr id="4" name="Footer Placeholder 3"/>
          <p:cNvSpPr>
            <a:spLocks noGrp="1"/>
          </p:cNvSpPr>
          <p:nvPr>
            <p:ph type="ftr" sz="quarter" idx="11"/>
          </p:nvPr>
        </p:nvSpPr>
        <p:spPr/>
        <p:txBody>
          <a:bodyPr/>
          <a:lstStyle/>
          <a:p>
            <a:endParaRPr lang="en-GB" dirty="0"/>
          </a:p>
        </p:txBody>
      </p:sp>
      <p:sp>
        <p:nvSpPr>
          <p:cNvPr id="5" name="Slide Number Placeholder 4"/>
          <p:cNvSpPr>
            <a:spLocks noGrp="1"/>
          </p:cNvSpPr>
          <p:nvPr>
            <p:ph type="sldNum" sz="quarter" idx="12"/>
          </p:nvPr>
        </p:nvSpPr>
        <p:spPr/>
        <p:txBody>
          <a:bodyPr/>
          <a:lstStyle/>
          <a:p>
            <a:fld id="{B133A864-6D40-4FEB-8933-40892CDA9280}" type="slidenum">
              <a:rPr lang="en-GB" smtClean="0"/>
              <a:t>‹#›</a:t>
            </a:fld>
            <a:endParaRPr lang="en-GB" dirty="0"/>
          </a:p>
        </p:txBody>
      </p:sp>
    </p:spTree>
    <p:extLst>
      <p:ext uri="{BB962C8B-B14F-4D97-AF65-F5344CB8AC3E}">
        <p14:creationId xmlns:p14="http://schemas.microsoft.com/office/powerpoint/2010/main" val="2034714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3C9AE14-94B2-400D-A848-28197BEE25A7}" type="datetimeFigureOut">
              <a:rPr lang="en-GB" smtClean="0"/>
              <a:t>14/02/2024</a:t>
            </a:fld>
            <a:endParaRPr lang="en-GB" dirty="0"/>
          </a:p>
        </p:txBody>
      </p:sp>
      <p:sp>
        <p:nvSpPr>
          <p:cNvPr id="3" name="Footer Placeholder 2"/>
          <p:cNvSpPr>
            <a:spLocks noGrp="1"/>
          </p:cNvSpPr>
          <p:nvPr>
            <p:ph type="ftr" sz="quarter" idx="11"/>
          </p:nvPr>
        </p:nvSpPr>
        <p:spPr/>
        <p:txBody>
          <a:bodyPr/>
          <a:lstStyle/>
          <a:p>
            <a:endParaRPr lang="en-GB" dirty="0"/>
          </a:p>
        </p:txBody>
      </p:sp>
      <p:sp>
        <p:nvSpPr>
          <p:cNvPr id="4" name="Slide Number Placeholder 3"/>
          <p:cNvSpPr>
            <a:spLocks noGrp="1"/>
          </p:cNvSpPr>
          <p:nvPr>
            <p:ph type="sldNum" sz="quarter" idx="12"/>
          </p:nvPr>
        </p:nvSpPr>
        <p:spPr/>
        <p:txBody>
          <a:bodyPr/>
          <a:lstStyle/>
          <a:p>
            <a:fld id="{B133A864-6D40-4FEB-8933-40892CDA9280}" type="slidenum">
              <a:rPr lang="en-GB" smtClean="0"/>
              <a:t>‹#›</a:t>
            </a:fld>
            <a:endParaRPr lang="en-GB" dirty="0"/>
          </a:p>
        </p:txBody>
      </p:sp>
    </p:spTree>
    <p:extLst>
      <p:ext uri="{BB962C8B-B14F-4D97-AF65-F5344CB8AC3E}">
        <p14:creationId xmlns:p14="http://schemas.microsoft.com/office/powerpoint/2010/main" val="12245417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73C9AE14-94B2-400D-A848-28197BEE25A7}" type="datetimeFigureOut">
              <a:rPr lang="en-GB" smtClean="0"/>
              <a:t>14/02/2024</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B133A864-6D40-4FEB-8933-40892CDA9280}" type="slidenum">
              <a:rPr lang="en-GB" smtClean="0"/>
              <a:t>‹#›</a:t>
            </a:fld>
            <a:endParaRPr lang="en-GB" dirty="0"/>
          </a:p>
        </p:txBody>
      </p:sp>
    </p:spTree>
    <p:extLst>
      <p:ext uri="{BB962C8B-B14F-4D97-AF65-F5344CB8AC3E}">
        <p14:creationId xmlns:p14="http://schemas.microsoft.com/office/powerpoint/2010/main" val="4125392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73C9AE14-94B2-400D-A848-28197BEE25A7}" type="datetimeFigureOut">
              <a:rPr lang="en-GB" smtClean="0"/>
              <a:t>14/02/2024</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B133A864-6D40-4FEB-8933-40892CDA9280}" type="slidenum">
              <a:rPr lang="en-GB" smtClean="0"/>
              <a:t>‹#›</a:t>
            </a:fld>
            <a:endParaRPr lang="en-GB" dirty="0"/>
          </a:p>
        </p:txBody>
      </p:sp>
    </p:spTree>
    <p:extLst>
      <p:ext uri="{BB962C8B-B14F-4D97-AF65-F5344CB8AC3E}">
        <p14:creationId xmlns:p14="http://schemas.microsoft.com/office/powerpoint/2010/main" val="2946591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73C9AE14-94B2-400D-A848-28197BEE25A7}" type="datetimeFigureOut">
              <a:rPr lang="en-GB" smtClean="0"/>
              <a:t>14/02/2024</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B133A864-6D40-4FEB-8933-40892CDA9280}" type="slidenum">
              <a:rPr lang="en-GB" smtClean="0"/>
              <a:t>‹#›</a:t>
            </a:fld>
            <a:endParaRPr lang="en-GB" dirty="0"/>
          </a:p>
        </p:txBody>
      </p:sp>
    </p:spTree>
    <p:extLst>
      <p:ext uri="{BB962C8B-B14F-4D97-AF65-F5344CB8AC3E}">
        <p14:creationId xmlns:p14="http://schemas.microsoft.com/office/powerpoint/2010/main" val="40031116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73C9AE14-94B2-400D-A848-28197BEE25A7}" type="datetimeFigureOut">
              <a:rPr lang="en-GB" smtClean="0"/>
              <a:t>14/02/2024</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B133A864-6D40-4FEB-8933-40892CDA9280}" type="slidenum">
              <a:rPr lang="en-GB" smtClean="0"/>
              <a:t>‹#›</a:t>
            </a:fld>
            <a:endParaRPr lang="en-GB" dirty="0"/>
          </a:p>
        </p:txBody>
      </p:sp>
    </p:spTree>
    <p:extLst>
      <p:ext uri="{BB962C8B-B14F-4D97-AF65-F5344CB8AC3E}">
        <p14:creationId xmlns:p14="http://schemas.microsoft.com/office/powerpoint/2010/main" val="5758032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3C9AE14-94B2-400D-A848-28197BEE25A7}" type="datetimeFigureOut">
              <a:rPr lang="en-GB" smtClean="0"/>
              <a:t>14/02/2024</a:t>
            </a:fld>
            <a:endParaRPr lang="en-GB"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133A864-6D40-4FEB-8933-40892CDA9280}" type="slidenum">
              <a:rPr lang="en-GB" smtClean="0"/>
              <a:t>‹#›</a:t>
            </a:fld>
            <a:endParaRPr lang="en-GB" dirty="0"/>
          </a:p>
        </p:txBody>
      </p:sp>
    </p:spTree>
    <p:extLst>
      <p:ext uri="{BB962C8B-B14F-4D97-AF65-F5344CB8AC3E}">
        <p14:creationId xmlns:p14="http://schemas.microsoft.com/office/powerpoint/2010/main" val="101469063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The Iranian Bakery scheduling problem</a:t>
            </a:r>
            <a:endParaRPr lang="en-GB" dirty="0"/>
          </a:p>
        </p:txBody>
      </p:sp>
      <p:sp>
        <p:nvSpPr>
          <p:cNvPr id="3" name="Subtitle 2"/>
          <p:cNvSpPr>
            <a:spLocks noGrp="1"/>
          </p:cNvSpPr>
          <p:nvPr>
            <p:ph type="subTitle" idx="1"/>
          </p:nvPr>
        </p:nvSpPr>
        <p:spPr/>
        <p:txBody>
          <a:bodyPr/>
          <a:lstStyle/>
          <a:p>
            <a:r>
              <a:rPr lang="en-US" dirty="0"/>
              <a:t>MB- Coursework Heuristics</a:t>
            </a:r>
            <a:r>
              <a:rPr lang="en-US"/>
              <a:t>, 2024</a:t>
            </a:r>
            <a:endParaRPr lang="en-GB" dirty="0"/>
          </a:p>
        </p:txBody>
      </p:sp>
    </p:spTree>
    <p:extLst>
      <p:ext uri="{BB962C8B-B14F-4D97-AF65-F5344CB8AC3E}">
        <p14:creationId xmlns:p14="http://schemas.microsoft.com/office/powerpoint/2010/main" val="18676146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bakery</a:t>
            </a:r>
            <a:endParaRPr lang="en-GB" dirty="0"/>
          </a:p>
        </p:txBody>
      </p:sp>
      <p:sp>
        <p:nvSpPr>
          <p:cNvPr id="3" name="Content Placeholder 2"/>
          <p:cNvSpPr>
            <a:spLocks noGrp="1"/>
          </p:cNvSpPr>
          <p:nvPr>
            <p:ph idx="1"/>
          </p:nvPr>
        </p:nvSpPr>
        <p:spPr>
          <a:xfrm>
            <a:off x="838200" y="1391516"/>
            <a:ext cx="10515600" cy="1231611"/>
          </a:xfrm>
        </p:spPr>
        <p:txBody>
          <a:bodyPr>
            <a:normAutofit lnSpcReduction="10000"/>
          </a:bodyPr>
          <a:lstStyle/>
          <a:p>
            <a:pPr marL="0" indent="0">
              <a:buNone/>
            </a:pPr>
            <a:r>
              <a:rPr lang="en-US" dirty="0"/>
              <a:t>The Iranian bakery produces, among others, a specialty biscuit that cooks for many hours at slow temperature. The biscuits have different shapes. Therefore, the cooking duration of biscuits might vary. </a:t>
            </a:r>
            <a:endParaRPr lang="en-GB"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76674" y="2549236"/>
            <a:ext cx="4081290" cy="3060244"/>
          </a:xfrm>
          <a:prstGeom prst="rect">
            <a:avLst/>
          </a:prstGeom>
        </p:spPr>
      </p:pic>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57964" y="3260772"/>
            <a:ext cx="3888510" cy="2675976"/>
          </a:xfrm>
          <a:prstGeom prst="rect">
            <a:avLst/>
          </a:prstGeom>
        </p:spPr>
      </p:pic>
      <p:pic>
        <p:nvPicPr>
          <p:cNvPr id="6" name="Picture 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146474" y="3871332"/>
            <a:ext cx="3622860" cy="2716503"/>
          </a:xfrm>
          <a:prstGeom prst="rect">
            <a:avLst/>
          </a:prstGeom>
        </p:spPr>
      </p:pic>
    </p:spTree>
    <p:extLst>
      <p:ext uri="{BB962C8B-B14F-4D97-AF65-F5344CB8AC3E}">
        <p14:creationId xmlns:p14="http://schemas.microsoft.com/office/powerpoint/2010/main" val="4968063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bakery</a:t>
            </a:r>
            <a:endParaRPr lang="en-GB" dirty="0"/>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894628" y="2022764"/>
            <a:ext cx="6029517" cy="4086949"/>
          </a:xfrm>
          <a:prstGeom prst="rect">
            <a:avLst/>
          </a:prstGeom>
        </p:spPr>
      </p:pic>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32509" y="2022764"/>
            <a:ext cx="5407407" cy="4054597"/>
          </a:xfrm>
          <a:prstGeom prst="rect">
            <a:avLst/>
          </a:prstGeom>
        </p:spPr>
      </p:pic>
    </p:spTree>
    <p:extLst>
      <p:ext uri="{BB962C8B-B14F-4D97-AF65-F5344CB8AC3E}">
        <p14:creationId xmlns:p14="http://schemas.microsoft.com/office/powerpoint/2010/main" val="10778808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bakery</a:t>
            </a:r>
            <a:endParaRPr lang="en-GB" dirty="0"/>
          </a:p>
        </p:txBody>
      </p:sp>
      <p:sp>
        <p:nvSpPr>
          <p:cNvPr id="3" name="Content Placeholder 2"/>
          <p:cNvSpPr>
            <a:spLocks noGrp="1"/>
          </p:cNvSpPr>
          <p:nvPr>
            <p:ph idx="1"/>
          </p:nvPr>
        </p:nvSpPr>
        <p:spPr>
          <a:xfrm>
            <a:off x="838200" y="1391516"/>
            <a:ext cx="10515600" cy="5064702"/>
          </a:xfrm>
        </p:spPr>
        <p:txBody>
          <a:bodyPr>
            <a:normAutofit/>
          </a:bodyPr>
          <a:lstStyle/>
          <a:p>
            <a:r>
              <a:rPr lang="en-US" dirty="0"/>
              <a:t>Trays with the same cooking duration are called hereafter a </a:t>
            </a:r>
            <a:r>
              <a:rPr lang="en-US" dirty="0">
                <a:solidFill>
                  <a:srgbClr val="FF0000"/>
                </a:solidFill>
              </a:rPr>
              <a:t>job</a:t>
            </a:r>
            <a:r>
              <a:rPr lang="en-US" dirty="0"/>
              <a:t>. Each job </a:t>
            </a:r>
            <a:r>
              <a:rPr lang="en-US" i="1" dirty="0"/>
              <a:t>t</a:t>
            </a:r>
            <a:r>
              <a:rPr lang="en-US" dirty="0"/>
              <a:t> is associated with a cooking duration </a:t>
            </a:r>
            <a:r>
              <a:rPr lang="en-US" i="1" dirty="0" err="1"/>
              <a:t>c</a:t>
            </a:r>
            <a:r>
              <a:rPr lang="en-US" i="1" baseline="-25000" dirty="0" err="1"/>
              <a:t>t</a:t>
            </a:r>
            <a:r>
              <a:rPr lang="en-US" dirty="0"/>
              <a:t> and a space occupied in the oven </a:t>
            </a:r>
            <a:r>
              <a:rPr lang="en-US" i="1" dirty="0" err="1"/>
              <a:t>s</a:t>
            </a:r>
            <a:r>
              <a:rPr lang="en-US" i="1" baseline="-25000" dirty="0" err="1"/>
              <a:t>t</a:t>
            </a:r>
            <a:r>
              <a:rPr lang="en-US" i="1" baseline="-25000" dirty="0"/>
              <a:t> </a:t>
            </a:r>
            <a:r>
              <a:rPr lang="en-US" dirty="0"/>
              <a:t>. The trays in a job have to be cooked in the same oven. </a:t>
            </a:r>
          </a:p>
          <a:p>
            <a:r>
              <a:rPr lang="en-US" dirty="0"/>
              <a:t>Each oven </a:t>
            </a:r>
            <a:r>
              <a:rPr lang="en-US" i="1" dirty="0"/>
              <a:t>o</a:t>
            </a:r>
            <a:r>
              <a:rPr lang="en-US" dirty="0"/>
              <a:t> has a capacity of </a:t>
            </a:r>
            <a:r>
              <a:rPr lang="en-US" i="1" dirty="0"/>
              <a:t>S</a:t>
            </a:r>
            <a:r>
              <a:rPr lang="en-US" i="1" baseline="-25000" dirty="0"/>
              <a:t>o</a:t>
            </a:r>
            <a:r>
              <a:rPr lang="en-US" dirty="0"/>
              <a:t>, so multiple jobs can be cooked simultaneously as long as the capacity of the oven is satisfied (the jobs cooking simultaneously in the same oven are called a batch). Note that an oven can cook more than a batch of biscuits in a day, but a new batch can start cooking only when all jobs in the previous batch are finished cooking. </a:t>
            </a:r>
          </a:p>
          <a:p>
            <a:r>
              <a:rPr lang="en-US" dirty="0"/>
              <a:t>Your goal is to schedule the baking of all jobs, so that time to complete the baking of the last job is minimized.. The literature refers to this objective as the </a:t>
            </a:r>
            <a:r>
              <a:rPr lang="en-US" i="1" dirty="0" err="1"/>
              <a:t>makespan</a:t>
            </a:r>
            <a:r>
              <a:rPr lang="en-US" i="1" dirty="0"/>
              <a:t> minimization</a:t>
            </a:r>
            <a:r>
              <a:rPr lang="en-US" dirty="0"/>
              <a:t>. </a:t>
            </a:r>
            <a:endParaRPr lang="en-GB" dirty="0"/>
          </a:p>
        </p:txBody>
      </p:sp>
    </p:spTree>
    <p:extLst>
      <p:ext uri="{BB962C8B-B14F-4D97-AF65-F5344CB8AC3E}">
        <p14:creationId xmlns:p14="http://schemas.microsoft.com/office/powerpoint/2010/main" val="1660462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problem instance</a:t>
            </a:r>
            <a:endParaRPr lang="en-GB" dirty="0"/>
          </a:p>
        </p:txBody>
      </p:sp>
      <p:sp>
        <p:nvSpPr>
          <p:cNvPr id="3" name="Content Placeholder 2"/>
          <p:cNvSpPr>
            <a:spLocks noGrp="1"/>
          </p:cNvSpPr>
          <p:nvPr>
            <p:ph idx="1"/>
          </p:nvPr>
        </p:nvSpPr>
        <p:spPr>
          <a:xfrm>
            <a:off x="5522935" y="250194"/>
            <a:ext cx="5950907" cy="2880987"/>
          </a:xfrm>
        </p:spPr>
        <p:txBody>
          <a:bodyPr>
            <a:normAutofit/>
          </a:bodyPr>
          <a:lstStyle/>
          <a:p>
            <a:pPr marL="0" indent="0">
              <a:buNone/>
            </a:pPr>
            <a:r>
              <a:rPr lang="en-GB" dirty="0" err="1"/>
              <a:t>NumbOvens</a:t>
            </a:r>
            <a:r>
              <a:rPr lang="en-GB" dirty="0"/>
              <a:t>  3</a:t>
            </a:r>
          </a:p>
          <a:p>
            <a:pPr marL="0" indent="0">
              <a:buNone/>
            </a:pPr>
            <a:r>
              <a:rPr lang="en-GB" dirty="0" err="1"/>
              <a:t>NumJobs</a:t>
            </a:r>
            <a:r>
              <a:rPr lang="en-GB" dirty="0"/>
              <a:t> 7</a:t>
            </a:r>
          </a:p>
          <a:p>
            <a:pPr marL="0" indent="0">
              <a:buNone/>
            </a:pPr>
            <a:r>
              <a:rPr lang="en-GB" dirty="0" err="1"/>
              <a:t>OvenCapacity</a:t>
            </a:r>
            <a:r>
              <a:rPr lang="en-GB" dirty="0"/>
              <a:t> 3 5 4</a:t>
            </a:r>
          </a:p>
          <a:p>
            <a:pPr marL="0" indent="0">
              <a:buNone/>
            </a:pPr>
            <a:r>
              <a:rPr lang="en-GB" dirty="0" err="1"/>
              <a:t>TimeNecessaryforEachJob</a:t>
            </a:r>
            <a:r>
              <a:rPr lang="en-GB" dirty="0"/>
              <a:t> 2 4 5 3 4 6 5</a:t>
            </a:r>
          </a:p>
          <a:p>
            <a:pPr marL="0" indent="0">
              <a:buNone/>
            </a:pPr>
            <a:r>
              <a:rPr lang="en-GB" dirty="0" err="1"/>
              <a:t>SpaceOccupiedPerJob</a:t>
            </a:r>
            <a:r>
              <a:rPr lang="en-GB" dirty="0"/>
              <a:t> 2 1 3 4 5 2 1</a:t>
            </a:r>
          </a:p>
        </p:txBody>
      </p:sp>
      <p:pic>
        <p:nvPicPr>
          <p:cNvPr id="20" name="Picture 19"/>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25257" y="2855935"/>
            <a:ext cx="6163849" cy="3883456"/>
          </a:xfrm>
          <a:prstGeom prst="rect">
            <a:avLst/>
          </a:prstGeom>
          <a:noFill/>
        </p:spPr>
      </p:pic>
      <p:sp>
        <p:nvSpPr>
          <p:cNvPr id="15" name="TextBox 14"/>
          <p:cNvSpPr txBox="1"/>
          <p:nvPr/>
        </p:nvSpPr>
        <p:spPr>
          <a:xfrm>
            <a:off x="7261755" y="3291831"/>
            <a:ext cx="4283901" cy="830997"/>
          </a:xfrm>
          <a:prstGeom prst="rect">
            <a:avLst/>
          </a:prstGeom>
          <a:noFill/>
        </p:spPr>
        <p:txBody>
          <a:bodyPr wrap="square" rtlCol="0">
            <a:spAutoFit/>
          </a:bodyPr>
          <a:lstStyle/>
          <a:p>
            <a:pPr algn="ctr"/>
            <a:r>
              <a:rPr lang="en-US" sz="2400" b="1" dirty="0">
                <a:solidFill>
                  <a:srgbClr val="FF0000"/>
                </a:solidFill>
              </a:rPr>
              <a:t>See text files with same format for your benchmark set</a:t>
            </a:r>
            <a:endParaRPr lang="en-GB" sz="2400" b="1" dirty="0">
              <a:solidFill>
                <a:srgbClr val="FF0000"/>
              </a:solidFill>
            </a:endParaRPr>
          </a:p>
        </p:txBody>
      </p:sp>
      <p:sp>
        <p:nvSpPr>
          <p:cNvPr id="16" name="Down Arrow 15"/>
          <p:cNvSpPr/>
          <p:nvPr/>
        </p:nvSpPr>
        <p:spPr>
          <a:xfrm rot="10800000">
            <a:off x="9227127" y="2855935"/>
            <a:ext cx="452582" cy="292384"/>
          </a:xfrm>
          <a:prstGeom prst="down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8535929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1182" y="446036"/>
            <a:ext cx="10515600" cy="1325563"/>
          </a:xfrm>
        </p:spPr>
        <p:txBody>
          <a:bodyPr/>
          <a:lstStyle/>
          <a:p>
            <a:r>
              <a:rPr lang="en-US" dirty="0"/>
              <a:t>A problem instance</a:t>
            </a:r>
            <a:endParaRPr lang="en-GB" dirty="0"/>
          </a:p>
        </p:txBody>
      </p:sp>
      <p:sp>
        <p:nvSpPr>
          <p:cNvPr id="3" name="Content Placeholder 2"/>
          <p:cNvSpPr>
            <a:spLocks noGrp="1"/>
          </p:cNvSpPr>
          <p:nvPr>
            <p:ph idx="1"/>
          </p:nvPr>
        </p:nvSpPr>
        <p:spPr>
          <a:xfrm>
            <a:off x="5522935" y="410844"/>
            <a:ext cx="5950907" cy="2880987"/>
          </a:xfrm>
        </p:spPr>
        <p:txBody>
          <a:bodyPr>
            <a:normAutofit/>
          </a:bodyPr>
          <a:lstStyle/>
          <a:p>
            <a:pPr marL="0" indent="0">
              <a:buNone/>
            </a:pPr>
            <a:r>
              <a:rPr lang="en-GB" dirty="0" err="1"/>
              <a:t>NumbOvens</a:t>
            </a:r>
            <a:r>
              <a:rPr lang="en-GB" dirty="0"/>
              <a:t>  3</a:t>
            </a:r>
          </a:p>
          <a:p>
            <a:pPr marL="0" indent="0">
              <a:buNone/>
            </a:pPr>
            <a:r>
              <a:rPr lang="en-GB" dirty="0" err="1"/>
              <a:t>NumJobs</a:t>
            </a:r>
            <a:r>
              <a:rPr lang="en-GB" dirty="0"/>
              <a:t> 7</a:t>
            </a:r>
          </a:p>
          <a:p>
            <a:pPr marL="0" indent="0">
              <a:buNone/>
            </a:pPr>
            <a:r>
              <a:rPr lang="en-GB" dirty="0" err="1"/>
              <a:t>OvenCapacity</a:t>
            </a:r>
            <a:r>
              <a:rPr lang="en-GB" dirty="0"/>
              <a:t> 3 5 4</a:t>
            </a:r>
          </a:p>
          <a:p>
            <a:pPr marL="0" indent="0">
              <a:buNone/>
            </a:pPr>
            <a:r>
              <a:rPr lang="en-GB" dirty="0" err="1"/>
              <a:t>TimeNecessaryforEachJob</a:t>
            </a:r>
            <a:r>
              <a:rPr lang="en-GB" dirty="0"/>
              <a:t> 2 4 5 3 4 6 5</a:t>
            </a:r>
          </a:p>
          <a:p>
            <a:pPr marL="0" indent="0">
              <a:buNone/>
            </a:pPr>
            <a:r>
              <a:rPr lang="en-GB" dirty="0" err="1"/>
              <a:t>SpaceOccupiedPerJob</a:t>
            </a:r>
            <a:r>
              <a:rPr lang="en-GB" dirty="0"/>
              <a:t> 2 1 3 4 5 2 1</a:t>
            </a:r>
          </a:p>
        </p:txBody>
      </p:sp>
      <p:sp>
        <p:nvSpPr>
          <p:cNvPr id="15" name="TextBox 14"/>
          <p:cNvSpPr txBox="1"/>
          <p:nvPr/>
        </p:nvSpPr>
        <p:spPr>
          <a:xfrm>
            <a:off x="6987906" y="3476558"/>
            <a:ext cx="4557749" cy="2308324"/>
          </a:xfrm>
          <a:prstGeom prst="rect">
            <a:avLst/>
          </a:prstGeom>
          <a:noFill/>
        </p:spPr>
        <p:txBody>
          <a:bodyPr wrap="square" rtlCol="0">
            <a:spAutoFit/>
          </a:bodyPr>
          <a:lstStyle/>
          <a:p>
            <a:pPr algn="ctr"/>
            <a:r>
              <a:rPr lang="en-US" sz="2400" b="1" dirty="0">
                <a:solidFill>
                  <a:srgbClr val="FF0000"/>
                </a:solidFill>
              </a:rPr>
              <a:t>Your code consider one instance at a time:</a:t>
            </a:r>
          </a:p>
          <a:p>
            <a:pPr marL="342900" indent="-342900" algn="ctr">
              <a:buFontTx/>
              <a:buChar char="-"/>
            </a:pPr>
            <a:r>
              <a:rPr lang="en-US" sz="2400" b="1" dirty="0">
                <a:solidFill>
                  <a:srgbClr val="FF0000"/>
                </a:solidFill>
              </a:rPr>
              <a:t>Read the text file;</a:t>
            </a:r>
          </a:p>
          <a:p>
            <a:pPr marL="342900" indent="-342900" algn="ctr">
              <a:buFontTx/>
              <a:buChar char="-"/>
            </a:pPr>
            <a:r>
              <a:rPr lang="en-US" sz="2400" b="1" dirty="0">
                <a:solidFill>
                  <a:srgbClr val="FF0000"/>
                </a:solidFill>
              </a:rPr>
              <a:t>Fill the </a:t>
            </a:r>
            <a:r>
              <a:rPr lang="en-US" sz="2400" b="1" i="1" dirty="0" err="1">
                <a:solidFill>
                  <a:srgbClr val="FF0000"/>
                </a:solidFill>
              </a:rPr>
              <a:t>InputData</a:t>
            </a:r>
            <a:r>
              <a:rPr lang="en-US" sz="2400" b="1" i="1" dirty="0">
                <a:solidFill>
                  <a:srgbClr val="FF0000"/>
                </a:solidFill>
              </a:rPr>
              <a:t> </a:t>
            </a:r>
            <a:r>
              <a:rPr lang="en-US" sz="2400" b="1" dirty="0">
                <a:solidFill>
                  <a:srgbClr val="FF0000"/>
                </a:solidFill>
              </a:rPr>
              <a:t>data structure</a:t>
            </a:r>
          </a:p>
          <a:p>
            <a:pPr algn="ctr"/>
            <a:endParaRPr lang="en-GB" sz="2400" b="1" dirty="0">
              <a:solidFill>
                <a:srgbClr val="FF0000"/>
              </a:solidFill>
            </a:endParaRPr>
          </a:p>
        </p:txBody>
      </p:sp>
      <p:sp>
        <p:nvSpPr>
          <p:cNvPr id="16" name="Down Arrow 15"/>
          <p:cNvSpPr/>
          <p:nvPr/>
        </p:nvSpPr>
        <p:spPr>
          <a:xfrm rot="10800000">
            <a:off x="9177414" y="3059539"/>
            <a:ext cx="452582" cy="292384"/>
          </a:xfrm>
          <a:prstGeom prst="down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TextBox 3"/>
          <p:cNvSpPr txBox="1"/>
          <p:nvPr/>
        </p:nvSpPr>
        <p:spPr>
          <a:xfrm>
            <a:off x="514928" y="3353447"/>
            <a:ext cx="6315960" cy="2554545"/>
          </a:xfrm>
          <a:prstGeom prst="rect">
            <a:avLst/>
          </a:prstGeom>
          <a:solidFill>
            <a:schemeClr val="bg1"/>
          </a:solidFill>
          <a:ln>
            <a:solidFill>
              <a:schemeClr val="tx1"/>
            </a:solidFill>
          </a:ln>
        </p:spPr>
        <p:txBody>
          <a:bodyPr wrap="none" rtlCol="0">
            <a:spAutoFit/>
          </a:bodyPr>
          <a:lstStyle/>
          <a:p>
            <a:r>
              <a:rPr lang="en-US" sz="2000" i="1" dirty="0"/>
              <a:t>VBA code:</a:t>
            </a:r>
          </a:p>
          <a:p>
            <a:r>
              <a:rPr lang="en-US" sz="2000" i="1" dirty="0"/>
              <a:t>Public Type </a:t>
            </a:r>
            <a:r>
              <a:rPr lang="en-US" sz="2000" i="1" dirty="0" err="1"/>
              <a:t>InputData</a:t>
            </a:r>
            <a:endParaRPr lang="en-US" sz="2000" i="1" dirty="0"/>
          </a:p>
          <a:p>
            <a:r>
              <a:rPr lang="en-US" sz="2000" i="1" dirty="0"/>
              <a:t>     </a:t>
            </a:r>
            <a:r>
              <a:rPr lang="en-US" sz="2000" i="1" dirty="0" err="1"/>
              <a:t>NumbOvens</a:t>
            </a:r>
            <a:r>
              <a:rPr lang="en-US" sz="2000" i="1" dirty="0"/>
              <a:t> As Integer    ' number of ovens available</a:t>
            </a:r>
          </a:p>
          <a:p>
            <a:r>
              <a:rPr lang="en-US" sz="2000" i="1" dirty="0"/>
              <a:t>     </a:t>
            </a:r>
            <a:r>
              <a:rPr lang="en-US" sz="2000" i="1" dirty="0" err="1"/>
              <a:t>NumbJobs</a:t>
            </a:r>
            <a:r>
              <a:rPr lang="en-US" sz="2000" i="1" dirty="0"/>
              <a:t> As Integer     ' number of jobs</a:t>
            </a:r>
          </a:p>
          <a:p>
            <a:r>
              <a:rPr lang="en-US" sz="2000" i="1" dirty="0"/>
              <a:t>     </a:t>
            </a:r>
            <a:r>
              <a:rPr lang="en-US" sz="2000" i="1" dirty="0" err="1"/>
              <a:t>OvenCapacity</a:t>
            </a:r>
            <a:r>
              <a:rPr lang="en-US" sz="2000" i="1" dirty="0"/>
              <a:t>() As Integer   ' capacity of each oven</a:t>
            </a:r>
          </a:p>
          <a:p>
            <a:r>
              <a:rPr lang="en-US" sz="2000" i="1" dirty="0"/>
              <a:t>     </a:t>
            </a:r>
            <a:r>
              <a:rPr lang="en-US" sz="2000" i="1" dirty="0" err="1"/>
              <a:t>SpaceOccupied</a:t>
            </a:r>
            <a:r>
              <a:rPr lang="en-US" sz="2000" i="1" dirty="0"/>
              <a:t>() As Integer  ' time to complete that job</a:t>
            </a:r>
          </a:p>
          <a:p>
            <a:r>
              <a:rPr lang="en-US" sz="2000" i="1" dirty="0"/>
              <a:t>     </a:t>
            </a:r>
            <a:r>
              <a:rPr lang="en-US" sz="2000" i="1" dirty="0" err="1"/>
              <a:t>TimeJob</a:t>
            </a:r>
            <a:r>
              <a:rPr lang="en-US" sz="2000" i="1" dirty="0"/>
              <a:t>() As Integer        ' time to complete a specific job</a:t>
            </a:r>
          </a:p>
          <a:p>
            <a:r>
              <a:rPr lang="en-US" sz="2000" i="1" dirty="0"/>
              <a:t>End Type</a:t>
            </a:r>
          </a:p>
        </p:txBody>
      </p:sp>
    </p:spTree>
    <p:extLst>
      <p:ext uri="{BB962C8B-B14F-4D97-AF65-F5344CB8AC3E}">
        <p14:creationId xmlns:p14="http://schemas.microsoft.com/office/powerpoint/2010/main" val="14428972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problem solution</a:t>
            </a:r>
            <a:endParaRPr lang="en-GB" dirty="0"/>
          </a:p>
        </p:txBody>
      </p:sp>
      <p:sp>
        <p:nvSpPr>
          <p:cNvPr id="3" name="Content Placeholder 2"/>
          <p:cNvSpPr>
            <a:spLocks noGrp="1"/>
          </p:cNvSpPr>
          <p:nvPr>
            <p:ph idx="1"/>
          </p:nvPr>
        </p:nvSpPr>
        <p:spPr>
          <a:xfrm>
            <a:off x="5522935" y="250194"/>
            <a:ext cx="5950907" cy="2880987"/>
          </a:xfrm>
        </p:spPr>
        <p:txBody>
          <a:bodyPr>
            <a:normAutofit/>
          </a:bodyPr>
          <a:lstStyle/>
          <a:p>
            <a:pPr marL="0" indent="0">
              <a:buNone/>
            </a:pPr>
            <a:r>
              <a:rPr lang="en-GB" dirty="0" err="1"/>
              <a:t>NumbOvens</a:t>
            </a:r>
            <a:r>
              <a:rPr lang="en-GB" dirty="0"/>
              <a:t>  3</a:t>
            </a:r>
          </a:p>
          <a:p>
            <a:pPr marL="0" indent="0">
              <a:buNone/>
            </a:pPr>
            <a:r>
              <a:rPr lang="en-GB" dirty="0" err="1"/>
              <a:t>NumJobs</a:t>
            </a:r>
            <a:r>
              <a:rPr lang="en-GB" dirty="0"/>
              <a:t> 7</a:t>
            </a:r>
          </a:p>
          <a:p>
            <a:pPr marL="0" indent="0">
              <a:buNone/>
            </a:pPr>
            <a:r>
              <a:rPr lang="en-GB" dirty="0" err="1"/>
              <a:t>OvenCapacity</a:t>
            </a:r>
            <a:r>
              <a:rPr lang="en-GB" dirty="0"/>
              <a:t> 3 5 4</a:t>
            </a:r>
          </a:p>
          <a:p>
            <a:pPr marL="0" indent="0">
              <a:buNone/>
            </a:pPr>
            <a:r>
              <a:rPr lang="en-GB" dirty="0" err="1"/>
              <a:t>TimeNecessaryforEachJob</a:t>
            </a:r>
            <a:r>
              <a:rPr lang="en-GB" dirty="0"/>
              <a:t> 2 4 5 3 4 6 5</a:t>
            </a:r>
          </a:p>
          <a:p>
            <a:pPr marL="0" indent="0">
              <a:buNone/>
            </a:pPr>
            <a:r>
              <a:rPr lang="en-GB" dirty="0" err="1"/>
              <a:t>SpaceOccupiedPerJob</a:t>
            </a:r>
            <a:r>
              <a:rPr lang="en-GB" dirty="0"/>
              <a:t> 2 1 3 4 5 2 1</a:t>
            </a:r>
          </a:p>
        </p:txBody>
      </p:sp>
      <p:pic>
        <p:nvPicPr>
          <p:cNvPr id="7" name="Picture 6"/>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77091" y="1274618"/>
            <a:ext cx="5514109" cy="3443627"/>
          </a:xfrm>
          <a:prstGeom prst="rect">
            <a:avLst/>
          </a:prstGeom>
          <a:noFill/>
        </p:spPr>
      </p:pic>
      <p:sp>
        <p:nvSpPr>
          <p:cNvPr id="4" name="TextBox 3"/>
          <p:cNvSpPr txBox="1"/>
          <p:nvPr/>
        </p:nvSpPr>
        <p:spPr>
          <a:xfrm>
            <a:off x="4267200" y="4504353"/>
            <a:ext cx="7730836" cy="2246769"/>
          </a:xfrm>
          <a:prstGeom prst="rect">
            <a:avLst/>
          </a:prstGeom>
          <a:noFill/>
        </p:spPr>
        <p:txBody>
          <a:bodyPr wrap="square" rtlCol="0">
            <a:spAutoFit/>
          </a:bodyPr>
          <a:lstStyle/>
          <a:p>
            <a:r>
              <a:rPr lang="en-US" sz="2000" i="1" dirty="0"/>
              <a:t>VBA code: </a:t>
            </a:r>
          </a:p>
          <a:p>
            <a:r>
              <a:rPr lang="en-US" sz="2000" i="1" dirty="0"/>
              <a:t>Public Type </a:t>
            </a:r>
            <a:r>
              <a:rPr lang="en-US" sz="2000" i="1" dirty="0" err="1"/>
              <a:t>SolutionData</a:t>
            </a:r>
            <a:endParaRPr lang="en-US" sz="2000" i="1" dirty="0"/>
          </a:p>
          <a:p>
            <a:r>
              <a:rPr lang="en-US" sz="2000" i="1" dirty="0"/>
              <a:t>    </a:t>
            </a:r>
            <a:r>
              <a:rPr lang="en-US" sz="2000" i="1" dirty="0" err="1"/>
              <a:t>makespan</a:t>
            </a:r>
            <a:r>
              <a:rPr lang="en-US" sz="2000" i="1" dirty="0"/>
              <a:t> As Integer  '  final solution value</a:t>
            </a:r>
          </a:p>
          <a:p>
            <a:r>
              <a:rPr lang="en-US" sz="2000" i="1" dirty="0"/>
              <a:t>    </a:t>
            </a:r>
            <a:r>
              <a:rPr lang="en-US" sz="2000" i="1" dirty="0" err="1"/>
              <a:t>makespanOven</a:t>
            </a:r>
            <a:r>
              <a:rPr lang="en-US" sz="2000" i="1" dirty="0"/>
              <a:t>() As Integer ' completion time of each oven</a:t>
            </a:r>
          </a:p>
          <a:p>
            <a:r>
              <a:rPr lang="en-US" sz="2000" i="1" dirty="0"/>
              <a:t>    </a:t>
            </a:r>
            <a:r>
              <a:rPr lang="en-US" sz="2000" i="1" dirty="0" err="1"/>
              <a:t>solFeasible</a:t>
            </a:r>
            <a:r>
              <a:rPr lang="en-US" sz="2000" i="1" dirty="0"/>
              <a:t> As Boolean '  true if solution feasible, false otherwise</a:t>
            </a:r>
          </a:p>
          <a:p>
            <a:r>
              <a:rPr lang="en-US" sz="2000" i="1" dirty="0">
                <a:solidFill>
                  <a:srgbClr val="FF0000"/>
                </a:solidFill>
              </a:rPr>
              <a:t>    assignments() As Integer 'for each oven and batch, list of jobs assigned</a:t>
            </a:r>
          </a:p>
          <a:p>
            <a:r>
              <a:rPr lang="en-US" sz="2000" i="1" dirty="0"/>
              <a:t>End Type</a:t>
            </a:r>
            <a:endParaRPr lang="en-GB" sz="2000" i="1" dirty="0"/>
          </a:p>
        </p:txBody>
      </p:sp>
    </p:spTree>
    <p:extLst>
      <p:ext uri="{BB962C8B-B14F-4D97-AF65-F5344CB8AC3E}">
        <p14:creationId xmlns:p14="http://schemas.microsoft.com/office/powerpoint/2010/main" val="27042816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8544" y="365124"/>
            <a:ext cx="10515600" cy="1325563"/>
          </a:xfrm>
        </p:spPr>
        <p:txBody>
          <a:bodyPr/>
          <a:lstStyle/>
          <a:p>
            <a:r>
              <a:rPr lang="en-US" dirty="0"/>
              <a:t>A problem solution</a:t>
            </a:r>
            <a:endParaRPr lang="en-GB" dirty="0"/>
          </a:p>
        </p:txBody>
      </p:sp>
      <p:sp>
        <p:nvSpPr>
          <p:cNvPr id="3" name="Content Placeholder 2"/>
          <p:cNvSpPr>
            <a:spLocks noGrp="1"/>
          </p:cNvSpPr>
          <p:nvPr>
            <p:ph idx="1"/>
          </p:nvPr>
        </p:nvSpPr>
        <p:spPr>
          <a:xfrm>
            <a:off x="7240899" y="250193"/>
            <a:ext cx="5950907" cy="2880987"/>
          </a:xfrm>
        </p:spPr>
        <p:txBody>
          <a:bodyPr>
            <a:normAutofit/>
          </a:bodyPr>
          <a:lstStyle/>
          <a:p>
            <a:pPr marL="0" indent="0">
              <a:buNone/>
            </a:pPr>
            <a:r>
              <a:rPr lang="en-GB" sz="1800" dirty="0" err="1"/>
              <a:t>NumbOvens</a:t>
            </a:r>
            <a:r>
              <a:rPr lang="en-GB" sz="1800" dirty="0"/>
              <a:t>  3</a:t>
            </a:r>
          </a:p>
          <a:p>
            <a:pPr marL="0" indent="0">
              <a:buNone/>
            </a:pPr>
            <a:r>
              <a:rPr lang="en-GB" sz="1800" dirty="0" err="1"/>
              <a:t>NumJobs</a:t>
            </a:r>
            <a:r>
              <a:rPr lang="en-GB" sz="1800" dirty="0"/>
              <a:t> 7</a:t>
            </a:r>
          </a:p>
          <a:p>
            <a:pPr marL="0" indent="0">
              <a:buNone/>
            </a:pPr>
            <a:r>
              <a:rPr lang="en-GB" sz="1800" dirty="0" err="1"/>
              <a:t>OvenCapacity</a:t>
            </a:r>
            <a:r>
              <a:rPr lang="en-GB" sz="1800" dirty="0"/>
              <a:t> 3 5 4</a:t>
            </a:r>
          </a:p>
          <a:p>
            <a:pPr marL="0" indent="0">
              <a:buNone/>
            </a:pPr>
            <a:r>
              <a:rPr lang="en-GB" sz="1800" dirty="0" err="1"/>
              <a:t>TimeNecessaryforEachJob</a:t>
            </a:r>
            <a:r>
              <a:rPr lang="en-GB" sz="1800" dirty="0"/>
              <a:t> 2 4 5 3 4 6 5</a:t>
            </a:r>
          </a:p>
          <a:p>
            <a:pPr marL="0" indent="0">
              <a:buNone/>
            </a:pPr>
            <a:r>
              <a:rPr lang="en-GB" sz="1800" dirty="0" err="1"/>
              <a:t>SpaceOccupiedPerJob</a:t>
            </a:r>
            <a:r>
              <a:rPr lang="en-GB" sz="1800" dirty="0"/>
              <a:t> 2 1 3 4 5 2 1</a:t>
            </a:r>
          </a:p>
        </p:txBody>
      </p:sp>
      <p:pic>
        <p:nvPicPr>
          <p:cNvPr id="7" name="Picture 6"/>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462982" y="2105891"/>
            <a:ext cx="5070763" cy="3332791"/>
          </a:xfrm>
          <a:prstGeom prst="rect">
            <a:avLst/>
          </a:prstGeom>
          <a:noFill/>
        </p:spPr>
      </p:pic>
      <p:sp>
        <p:nvSpPr>
          <p:cNvPr id="5" name="TextBox 4"/>
          <p:cNvSpPr txBox="1"/>
          <p:nvPr/>
        </p:nvSpPr>
        <p:spPr>
          <a:xfrm>
            <a:off x="138544" y="2105891"/>
            <a:ext cx="7462982" cy="2585323"/>
          </a:xfrm>
          <a:prstGeom prst="rect">
            <a:avLst/>
          </a:prstGeom>
          <a:noFill/>
        </p:spPr>
        <p:txBody>
          <a:bodyPr wrap="square" rtlCol="0">
            <a:spAutoFit/>
          </a:bodyPr>
          <a:lstStyle/>
          <a:p>
            <a:r>
              <a:rPr lang="en-GB" dirty="0"/>
              <a:t>Dim sol As </a:t>
            </a:r>
            <a:r>
              <a:rPr lang="en-GB" dirty="0" err="1"/>
              <a:t>SolutionData</a:t>
            </a:r>
            <a:endParaRPr lang="en-GB" dirty="0"/>
          </a:p>
          <a:p>
            <a:r>
              <a:rPr lang="en-GB" dirty="0" err="1"/>
              <a:t>sol.assignments</a:t>
            </a:r>
            <a:r>
              <a:rPr lang="en-GB" dirty="0"/>
              <a:t>(1, 1, 1) = 3 ’ in oven 1, for batch number 1, the first job is 3</a:t>
            </a:r>
          </a:p>
          <a:p>
            <a:r>
              <a:rPr lang="en-GB" dirty="0" err="1"/>
              <a:t>sol.assignments</a:t>
            </a:r>
            <a:r>
              <a:rPr lang="en-GB" dirty="0"/>
              <a:t>(1, 2, 1) = 1 ‘ in oven 1, for batch number 2, the first job is 1</a:t>
            </a:r>
          </a:p>
          <a:p>
            <a:r>
              <a:rPr lang="en-GB" dirty="0" err="1"/>
              <a:t>sol.assignments</a:t>
            </a:r>
            <a:r>
              <a:rPr lang="en-GB" dirty="0"/>
              <a:t>(2, 1, 1) = 5 ‘ in oven 2, for batch number 1, the first job is 5</a:t>
            </a:r>
          </a:p>
          <a:p>
            <a:r>
              <a:rPr lang="en-GB" dirty="0" err="1"/>
              <a:t>sol.assignments</a:t>
            </a:r>
            <a:r>
              <a:rPr lang="en-GB" dirty="0"/>
              <a:t>(2, 2, 1) = 4 ‘ in oven 2, for batch number 2, the first job is 4</a:t>
            </a:r>
          </a:p>
          <a:p>
            <a:r>
              <a:rPr lang="en-GB" dirty="0" err="1"/>
              <a:t>sol.assignments</a:t>
            </a:r>
            <a:r>
              <a:rPr lang="en-GB" dirty="0"/>
              <a:t>(3, 1, 1) = 6 ‘ in oven 3, for batch number 1, the first job is 6</a:t>
            </a:r>
          </a:p>
          <a:p>
            <a:r>
              <a:rPr lang="en-GB" dirty="0" err="1"/>
              <a:t>sol.assignments</a:t>
            </a:r>
            <a:r>
              <a:rPr lang="en-GB" dirty="0"/>
              <a:t>(3, 1, 2) = 7 ‘ in oven 3, for batch number 1, the second job is 7</a:t>
            </a:r>
          </a:p>
          <a:p>
            <a:r>
              <a:rPr lang="en-GB" dirty="0" err="1"/>
              <a:t>sol.assignments</a:t>
            </a:r>
            <a:r>
              <a:rPr lang="en-GB" dirty="0"/>
              <a:t>(3, 1, 3) = 2 ‘ in oven 3, for batch number 1, the third job is 2</a:t>
            </a:r>
          </a:p>
          <a:p>
            <a:endParaRPr lang="en-GB" dirty="0"/>
          </a:p>
        </p:txBody>
      </p:sp>
      <p:sp>
        <p:nvSpPr>
          <p:cNvPr id="6" name="TextBox 5"/>
          <p:cNvSpPr txBox="1"/>
          <p:nvPr/>
        </p:nvSpPr>
        <p:spPr>
          <a:xfrm>
            <a:off x="193554" y="5568769"/>
            <a:ext cx="7047345" cy="369332"/>
          </a:xfrm>
          <a:prstGeom prst="rect">
            <a:avLst/>
          </a:prstGeom>
          <a:noFill/>
        </p:spPr>
        <p:txBody>
          <a:bodyPr wrap="square" rtlCol="0">
            <a:spAutoFit/>
          </a:bodyPr>
          <a:lstStyle/>
          <a:p>
            <a:r>
              <a:rPr lang="en-US" b="1" dirty="0"/>
              <a:t>For this solution, the </a:t>
            </a:r>
            <a:r>
              <a:rPr lang="en-US" b="1" dirty="0" err="1"/>
              <a:t>makespan</a:t>
            </a:r>
            <a:r>
              <a:rPr lang="en-US" b="1" dirty="0"/>
              <a:t> is 7, and the overall solution is feasible</a:t>
            </a:r>
            <a:endParaRPr lang="en-GB" b="1" dirty="0"/>
          </a:p>
        </p:txBody>
      </p:sp>
    </p:spTree>
    <p:extLst>
      <p:ext uri="{BB962C8B-B14F-4D97-AF65-F5344CB8AC3E}">
        <p14:creationId xmlns:p14="http://schemas.microsoft.com/office/powerpoint/2010/main" val="28118466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8544" y="365124"/>
            <a:ext cx="10515600" cy="1325563"/>
          </a:xfrm>
        </p:spPr>
        <p:txBody>
          <a:bodyPr/>
          <a:lstStyle/>
          <a:p>
            <a:r>
              <a:rPr lang="en-US" dirty="0"/>
              <a:t>Functions provided</a:t>
            </a:r>
            <a:endParaRPr lang="en-GB" dirty="0"/>
          </a:p>
        </p:txBody>
      </p:sp>
      <p:sp>
        <p:nvSpPr>
          <p:cNvPr id="4" name="Content Placeholder 3"/>
          <p:cNvSpPr>
            <a:spLocks noGrp="1"/>
          </p:cNvSpPr>
          <p:nvPr>
            <p:ph idx="1"/>
          </p:nvPr>
        </p:nvSpPr>
        <p:spPr>
          <a:xfrm>
            <a:off x="138543" y="1705985"/>
            <a:ext cx="11480801" cy="4351338"/>
          </a:xfrm>
        </p:spPr>
        <p:txBody>
          <a:bodyPr>
            <a:normAutofit lnSpcReduction="10000"/>
          </a:bodyPr>
          <a:lstStyle/>
          <a:p>
            <a:r>
              <a:rPr lang="en-US" dirty="0"/>
              <a:t>Reading instances iteratively from text file;</a:t>
            </a:r>
          </a:p>
          <a:p>
            <a:r>
              <a:rPr lang="en-US" dirty="0"/>
              <a:t>Insert the instance data into the </a:t>
            </a:r>
            <a:r>
              <a:rPr lang="en-US" dirty="0" err="1"/>
              <a:t>InputData</a:t>
            </a:r>
            <a:r>
              <a:rPr lang="en-US" dirty="0"/>
              <a:t> data structure;</a:t>
            </a:r>
          </a:p>
          <a:p>
            <a:r>
              <a:rPr lang="en-US" dirty="0"/>
              <a:t>The data structure to represent a solution, and a function  that initializes this to -1 values</a:t>
            </a:r>
            <a:r>
              <a:rPr lang="en-GB" dirty="0"/>
              <a:t>;</a:t>
            </a:r>
          </a:p>
          <a:p>
            <a:r>
              <a:rPr lang="en-US" dirty="0"/>
              <a:t>The function that verifies if a solution is feasible and verifies the correctness of the </a:t>
            </a:r>
            <a:r>
              <a:rPr lang="en-US" dirty="0" err="1"/>
              <a:t>makespan</a:t>
            </a:r>
            <a:r>
              <a:rPr lang="en-US" dirty="0"/>
              <a:t> computation;</a:t>
            </a:r>
          </a:p>
          <a:p>
            <a:r>
              <a:rPr lang="en-US" dirty="0"/>
              <a:t>A structure of the overall code requested for the coursework, such as:</a:t>
            </a:r>
          </a:p>
          <a:p>
            <a:pPr lvl="1"/>
            <a:r>
              <a:rPr lang="en-US" dirty="0"/>
              <a:t>A constructive heuristic (this week and the next one);</a:t>
            </a:r>
          </a:p>
          <a:p>
            <a:pPr lvl="1"/>
            <a:r>
              <a:rPr lang="en-US" dirty="0"/>
              <a:t>A local search heuristic (next week and the one after);</a:t>
            </a:r>
          </a:p>
          <a:p>
            <a:pPr lvl="1"/>
            <a:r>
              <a:rPr lang="en-US" dirty="0"/>
              <a:t>A metaheuristic (last two weeks). </a:t>
            </a:r>
          </a:p>
        </p:txBody>
      </p:sp>
    </p:spTree>
    <p:extLst>
      <p:ext uri="{BB962C8B-B14F-4D97-AF65-F5344CB8AC3E}">
        <p14:creationId xmlns:p14="http://schemas.microsoft.com/office/powerpoint/2010/main" val="26746328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next?</a:t>
            </a:r>
            <a:endParaRPr lang="en-GB" dirty="0"/>
          </a:p>
        </p:txBody>
      </p:sp>
      <p:sp>
        <p:nvSpPr>
          <p:cNvPr id="3" name="Content Placeholder 2"/>
          <p:cNvSpPr>
            <a:spLocks noGrp="1"/>
          </p:cNvSpPr>
          <p:nvPr>
            <p:ph idx="1"/>
          </p:nvPr>
        </p:nvSpPr>
        <p:spPr/>
        <p:txBody>
          <a:bodyPr/>
          <a:lstStyle/>
          <a:p>
            <a:r>
              <a:rPr lang="en-US" dirty="0"/>
              <a:t>Get familiar with:</a:t>
            </a:r>
          </a:p>
          <a:p>
            <a:pPr lvl="1"/>
            <a:r>
              <a:rPr lang="en-US" dirty="0"/>
              <a:t>The problem definition and its objective (i.e., use numerical small examples);</a:t>
            </a:r>
          </a:p>
          <a:p>
            <a:pPr lvl="1"/>
            <a:r>
              <a:rPr lang="en-US" dirty="0"/>
              <a:t>The data structures;</a:t>
            </a:r>
          </a:p>
          <a:p>
            <a:pPr lvl="1"/>
            <a:r>
              <a:rPr lang="en-US" dirty="0"/>
              <a:t>The functions in the VBA code provided. </a:t>
            </a:r>
            <a:endParaRPr lang="en-GB" dirty="0"/>
          </a:p>
          <a:p>
            <a:pPr marL="457200" lvl="1" indent="0">
              <a:buNone/>
            </a:pPr>
            <a:endParaRPr lang="en-US" dirty="0"/>
          </a:p>
          <a:p>
            <a:pPr marL="457200" lvl="1" indent="0">
              <a:buNone/>
            </a:pPr>
            <a:endParaRPr lang="en-US" dirty="0"/>
          </a:p>
          <a:p>
            <a:pPr marL="457200" lvl="1" indent="0">
              <a:buNone/>
            </a:pPr>
            <a:r>
              <a:rPr lang="en-US" dirty="0"/>
              <a:t>I hope you will enjoy this project!</a:t>
            </a:r>
          </a:p>
        </p:txBody>
      </p:sp>
    </p:spTree>
    <p:extLst>
      <p:ext uri="{BB962C8B-B14F-4D97-AF65-F5344CB8AC3E}">
        <p14:creationId xmlns:p14="http://schemas.microsoft.com/office/powerpoint/2010/main" val="272146295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48</TotalTime>
  <Words>809</Words>
  <Application>Microsoft Office PowerPoint</Application>
  <PresentationFormat>Widescreen</PresentationFormat>
  <Paragraphs>78</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Calibri Light</vt:lpstr>
      <vt:lpstr>Office Theme</vt:lpstr>
      <vt:lpstr>The Iranian Bakery scheduling problem</vt:lpstr>
      <vt:lpstr>The bakery</vt:lpstr>
      <vt:lpstr>The bakery</vt:lpstr>
      <vt:lpstr>The bakery</vt:lpstr>
      <vt:lpstr>A problem instance</vt:lpstr>
      <vt:lpstr>A problem instance</vt:lpstr>
      <vt:lpstr>A problem solution</vt:lpstr>
      <vt:lpstr>A problem solution</vt:lpstr>
      <vt:lpstr>Functions provided</vt:lpstr>
      <vt:lpstr>What is next?</vt:lpstr>
    </vt:vector>
  </TitlesOfParts>
  <Company>University of Bath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Iranian Bakery scheduling problem</dc:title>
  <dc:creator>Maria Battarra</dc:creator>
  <cp:lastModifiedBy>Maria Battarra</cp:lastModifiedBy>
  <cp:revision>11</cp:revision>
  <dcterms:created xsi:type="dcterms:W3CDTF">2021-02-07T12:03:05Z</dcterms:created>
  <dcterms:modified xsi:type="dcterms:W3CDTF">2024-02-14T13:58:04Z</dcterms:modified>
</cp:coreProperties>
</file>